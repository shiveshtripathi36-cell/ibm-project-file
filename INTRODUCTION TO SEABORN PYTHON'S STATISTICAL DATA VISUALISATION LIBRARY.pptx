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6858000" cy="9144000"/>
  <p:embeddedFontLst>
    <p:embeddedFont>
      <p:font typeface="Alice" panose="020B0604020202020204" charset="0"/>
      <p:regular r:id="rId11"/>
    </p:embeddedFont>
    <p:embeddedFont>
      <p:font typeface="League Spartan" panose="020B0604020202020204" charset="0"/>
      <p:regular r:id="rId12"/>
    </p:embeddedFont>
    <p:embeddedFont>
      <p:font typeface="Montserrat" panose="00000500000000000000" pitchFamily="2" charset="0"/>
      <p:regular r:id="rId13"/>
    </p:embeddedFont>
    <p:embeddedFont>
      <p:font typeface="Montserrat Bold" panose="00000800000000000000" charset="0"/>
      <p:regular r:id="rId14"/>
    </p:embeddedFont>
    <p:embeddedFont>
      <p:font typeface="Montserrat Bold Italics" panose="020B0604020202020204" charset="0"/>
      <p:regular r:id="rId15"/>
    </p:embeddedFont>
    <p:embeddedFont>
      <p:font typeface="Prachason Neue Expanded" panose="020B0604020202020204" charset="-34"/>
      <p:regular r:id="rId16"/>
    </p:embeddedFont>
    <p:embeddedFont>
      <p:font typeface="Prachason Neue Expanded Bold" panose="020B0604020202020204" charset="-34"/>
      <p:regular r:id="rId17"/>
    </p:embeddedFont>
    <p:embeddedFont>
      <p:font typeface="Prachason Neue Expanded Bold Italics" panose="020B0604020202020204" charset="-34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3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978923" y="-4676538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6"/>
                </a:lnTo>
                <a:lnTo>
                  <a:pt x="0" y="730907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0" y="0"/>
            <a:ext cx="8001000" cy="10287000"/>
          </a:xfrm>
          <a:custGeom>
            <a:avLst/>
            <a:gdLst/>
            <a:ahLst/>
            <a:cxnLst/>
            <a:rect l="l" t="t" r="r" b="b"/>
            <a:pathLst>
              <a:path w="8558477" h="13394163">
                <a:moveTo>
                  <a:pt x="0" y="0"/>
                </a:moveTo>
                <a:lnTo>
                  <a:pt x="8558477" y="0"/>
                </a:lnTo>
                <a:lnTo>
                  <a:pt x="8558477" y="13394163"/>
                </a:lnTo>
                <a:lnTo>
                  <a:pt x="0" y="1339416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61043" t="-22353" b="-994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951595"/>
            <a:ext cx="6416328" cy="32856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2958" b="1" i="1" u="sng" spc="686" dirty="0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INTRODUCTION TO SEABORN: PYTHON'S STATISTICAL DATA VISUALISATION LIBRARY</a:t>
            </a:r>
          </a:p>
          <a:p>
            <a:pPr algn="l">
              <a:lnSpc>
                <a:spcPts val="4378"/>
              </a:lnSpc>
            </a:pPr>
            <a:endParaRPr lang="en-US" sz="2958" b="1" i="1" u="sng" spc="686" dirty="0">
              <a:solidFill>
                <a:srgbClr val="FFFFFF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76481" y="5057775"/>
            <a:ext cx="6416328" cy="5794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22"/>
              </a:lnSpc>
            </a:pPr>
            <a:r>
              <a:rPr lang="en-US" sz="3258" b="1" i="1" u="sng" spc="756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GROUP-9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028700" y="6686100"/>
            <a:ext cx="10419473" cy="3235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GROUP MEMBER- SHIVESH TRIPATHI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SHIVANG SAROJ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YADVENDRA PRATAP SINGH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HARIOM MISHRA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 ANKITA YADAV</a:t>
            </a:r>
          </a:p>
          <a:p>
            <a:pPr algn="l">
              <a:lnSpc>
                <a:spcPts val="3697"/>
              </a:lnSpc>
            </a:pPr>
            <a:r>
              <a:rPr lang="en-US" sz="2498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  ANKITA MISHRA</a:t>
            </a:r>
          </a:p>
          <a:p>
            <a:pPr algn="l">
              <a:lnSpc>
                <a:spcPts val="3697"/>
              </a:lnSpc>
            </a:pPr>
            <a:r>
              <a:rPr lang="en-US" sz="2498" b="1" i="1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                        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flip dir="r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816872" y="4845703"/>
            <a:ext cx="11369437" cy="1309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780"/>
              </a:lnSpc>
            </a:pPr>
            <a:r>
              <a:rPr lang="en-US" sz="2460">
                <a:solidFill>
                  <a:srgbClr val="FFFFFF"/>
                </a:solidFill>
                <a:latin typeface="Alice"/>
                <a:ea typeface="Alice"/>
                <a:cs typeface="Alice"/>
                <a:sym typeface="Alice"/>
              </a:rPr>
              <a:t>DISCOVER THE POWER OF CREATING STUNNING STATISTICAL VISUALISATIONS WITH MINIMAL CODE USING PYTHON'S PREMIER PLOTTING LIBRARY.</a:t>
            </a:r>
          </a:p>
          <a:p>
            <a:pPr algn="l">
              <a:lnSpc>
                <a:spcPts val="1946"/>
              </a:lnSpc>
            </a:pPr>
            <a:endParaRPr lang="en-US" sz="2460">
              <a:solidFill>
                <a:srgbClr val="FFFFFF"/>
              </a:solidFill>
              <a:latin typeface="Alice"/>
              <a:ea typeface="Alice"/>
              <a:cs typeface="Alice"/>
              <a:sym typeface="Alice"/>
            </a:endParaRPr>
          </a:p>
        </p:txBody>
      </p:sp>
      <p:sp>
        <p:nvSpPr>
          <p:cNvPr id="4" name="Freeform 4"/>
          <p:cNvSpPr/>
          <p:nvPr/>
        </p:nvSpPr>
        <p:spPr>
          <a:xfrm>
            <a:off x="15740058" y="1028700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779842" y="0"/>
            <a:ext cx="7508158" cy="10287000"/>
          </a:xfrm>
          <a:custGeom>
            <a:avLst/>
            <a:gdLst/>
            <a:ahLst/>
            <a:cxnLst/>
            <a:rect l="l" t="t" r="r" b="b"/>
            <a:pathLst>
              <a:path w="7508158" h="10287000">
                <a:moveTo>
                  <a:pt x="0" y="0"/>
                </a:moveTo>
                <a:lnTo>
                  <a:pt x="7508158" y="0"/>
                </a:lnTo>
                <a:lnTo>
                  <a:pt x="750815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2726" r="-12375" b="-2726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8022" y="1438320"/>
            <a:ext cx="8319281" cy="3244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71"/>
              </a:lnSpc>
            </a:pPr>
            <a:r>
              <a:rPr lang="en-US" sz="4622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Introduction to Seaborn: Python's Statistical Data Visualisation Library</a:t>
            </a:r>
          </a:p>
          <a:p>
            <a:pPr algn="l">
              <a:lnSpc>
                <a:spcPts val="6471"/>
              </a:lnSpc>
            </a:pPr>
            <a:endParaRPr lang="en-US" sz="4622" u="sng">
              <a:solidFill>
                <a:srgbClr val="FFFFFF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14:gallery dir="l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668888" y="7304763"/>
            <a:ext cx="7309077" cy="7309077"/>
          </a:xfrm>
          <a:custGeom>
            <a:avLst/>
            <a:gdLst/>
            <a:ahLst/>
            <a:cxnLst/>
            <a:rect l="l" t="t" r="r" b="b"/>
            <a:pathLst>
              <a:path w="7309077" h="7309077">
                <a:moveTo>
                  <a:pt x="0" y="0"/>
                </a:moveTo>
                <a:lnTo>
                  <a:pt x="7309077" y="0"/>
                </a:lnTo>
                <a:lnTo>
                  <a:pt x="7309077" y="7309077"/>
                </a:lnTo>
                <a:lnTo>
                  <a:pt x="0" y="73090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28096" y="1344930"/>
            <a:ext cx="6054294" cy="8134028"/>
          </a:xfrm>
          <a:custGeom>
            <a:avLst/>
            <a:gdLst/>
            <a:ahLst/>
            <a:cxnLst/>
            <a:rect l="l" t="t" r="r" b="b"/>
            <a:pathLst>
              <a:path w="6054294" h="8134028">
                <a:moveTo>
                  <a:pt x="0" y="0"/>
                </a:moveTo>
                <a:lnTo>
                  <a:pt x="6054294" y="0"/>
                </a:lnTo>
                <a:lnTo>
                  <a:pt x="6054294" y="8134028"/>
                </a:lnTo>
                <a:lnTo>
                  <a:pt x="0" y="813402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192" r="-13590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182390" y="1571963"/>
            <a:ext cx="9242893" cy="18187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5989"/>
              </a:lnSpc>
            </a:pPr>
            <a:r>
              <a:rPr lang="en-US" sz="5300" b="1" u="sng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WHAT IS SEABORN?</a:t>
            </a:r>
          </a:p>
          <a:p>
            <a:pPr algn="r">
              <a:lnSpc>
                <a:spcPts val="5989"/>
              </a:lnSpc>
            </a:pPr>
            <a:endParaRPr lang="en-US" sz="5300" b="1" u="sng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6753395" y="3754057"/>
            <a:ext cx="11263134" cy="19388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Seaborn is a Python data visualisation library that makes statistical graphics both beautiful and intuitive. Built on top of Matplotlib, it integrates seamlessly with Pandas DataFrames.</a:t>
            </a:r>
          </a:p>
          <a:p>
            <a:pPr algn="l">
              <a:lnSpc>
                <a:spcPts val="3933"/>
              </a:lnSpc>
            </a:pPr>
            <a:endParaRPr lang="en-US" sz="280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753395" y="6056192"/>
            <a:ext cx="11263134" cy="24294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33"/>
              </a:lnSpc>
            </a:pPr>
            <a:r>
              <a:rPr lang="en-US" sz="280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library simplifies the creation of attractive, informative statistical graphics through a dataset-oriented, declarative approach. This means you can focus on what insights you want to show rather than how to code every detail.</a:t>
            </a:r>
          </a:p>
          <a:p>
            <a:pPr algn="l">
              <a:lnSpc>
                <a:spcPts val="3933"/>
              </a:lnSpc>
            </a:pPr>
            <a:endParaRPr lang="en-US" sz="2809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749720" y="3340162"/>
            <a:ext cx="15242880" cy="5681834"/>
          </a:xfrm>
          <a:custGeom>
            <a:avLst/>
            <a:gdLst/>
            <a:ahLst/>
            <a:cxnLst/>
            <a:rect l="l" t="t" r="r" b="b"/>
            <a:pathLst>
              <a:path w="12707659" h="5681834">
                <a:moveTo>
                  <a:pt x="0" y="0"/>
                </a:moveTo>
                <a:lnTo>
                  <a:pt x="12707659" y="0"/>
                </a:lnTo>
                <a:lnTo>
                  <a:pt x="12707659" y="5681834"/>
                </a:lnTo>
                <a:lnTo>
                  <a:pt x="0" y="5681834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2895600" y="1638300"/>
            <a:ext cx="11406169" cy="13881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20"/>
              </a:lnSpc>
            </a:pPr>
            <a:r>
              <a:rPr lang="en-US" sz="4000" b="1" u="sng" dirty="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WHY USE SEABORN?</a:t>
            </a:r>
          </a:p>
          <a:p>
            <a:pPr algn="ctr">
              <a:lnSpc>
                <a:spcPts val="4520"/>
              </a:lnSpc>
            </a:pPr>
            <a:endParaRPr lang="en-US" sz="4000" b="1" u="sng" dirty="0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switch dir="r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95756" y="4910019"/>
            <a:ext cx="17061218" cy="3778104"/>
          </a:xfrm>
          <a:custGeom>
            <a:avLst/>
            <a:gdLst/>
            <a:ahLst/>
            <a:cxnLst/>
            <a:rect l="l" t="t" r="r" b="b"/>
            <a:pathLst>
              <a:path w="17061218" h="3778104">
                <a:moveTo>
                  <a:pt x="0" y="0"/>
                </a:moveTo>
                <a:lnTo>
                  <a:pt x="17061218" y="0"/>
                </a:lnTo>
                <a:lnTo>
                  <a:pt x="17061218" y="3778105"/>
                </a:lnTo>
                <a:lnTo>
                  <a:pt x="0" y="37781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5256" b="-5256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505200" y="800100"/>
            <a:ext cx="10282483" cy="45407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200" b="1" u="sng" dirty="0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INSTALLING &amp; IMPORTING SEABORN</a:t>
            </a:r>
          </a:p>
          <a:p>
            <a:pPr algn="ctr">
              <a:lnSpc>
                <a:spcPts val="8135"/>
              </a:lnSpc>
            </a:pPr>
            <a:endParaRPr lang="en-US" sz="7200" b="1" u="sng" dirty="0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6000">
        <p15:prstTrans prst="curtains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1"/>
            <a:ext cx="6271969" cy="10287000"/>
          </a:xfrm>
          <a:custGeom>
            <a:avLst/>
            <a:gdLst/>
            <a:ahLst/>
            <a:cxnLst/>
            <a:rect l="l" t="t" r="r" b="b"/>
            <a:pathLst>
              <a:path w="8207207" h="10599135">
                <a:moveTo>
                  <a:pt x="0" y="0"/>
                </a:moveTo>
                <a:lnTo>
                  <a:pt x="8207207" y="0"/>
                </a:lnTo>
                <a:lnTo>
                  <a:pt x="8207207" y="10599135"/>
                </a:lnTo>
                <a:lnTo>
                  <a:pt x="0" y="1059913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717" t="-10564" b="-9342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271969" y="1305253"/>
            <a:ext cx="11840205" cy="8669612"/>
          </a:xfrm>
          <a:custGeom>
            <a:avLst/>
            <a:gdLst/>
            <a:ahLst/>
            <a:cxnLst/>
            <a:rect l="l" t="t" r="r" b="b"/>
            <a:pathLst>
              <a:path w="11840205" h="8669612">
                <a:moveTo>
                  <a:pt x="0" y="0"/>
                </a:moveTo>
                <a:lnTo>
                  <a:pt x="11840205" y="0"/>
                </a:lnTo>
                <a:lnTo>
                  <a:pt x="11840205" y="8669612"/>
                </a:lnTo>
                <a:lnTo>
                  <a:pt x="0" y="866961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579" r="-4175" b="-579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7426181" y="252096"/>
            <a:ext cx="9531780" cy="139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15"/>
              </a:lnSpc>
            </a:pPr>
            <a:r>
              <a:rPr lang="en-US" sz="2845" b="1" u="sng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SEABORN VS MATPLOTLIB: KEY DIFFERENCES</a:t>
            </a:r>
          </a:p>
          <a:p>
            <a:pPr algn="ctr">
              <a:lnSpc>
                <a:spcPts val="3363"/>
              </a:lnSpc>
            </a:pPr>
            <a:endParaRPr lang="en-US" sz="2845" b="1" u="sng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drape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3072614" y="1321720"/>
            <a:ext cx="11809828" cy="246994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35"/>
              </a:lnSpc>
            </a:pPr>
            <a:r>
              <a:rPr lang="en-US" sz="7199" b="1" u="sng">
                <a:solidFill>
                  <a:srgbClr val="FFFFFF"/>
                </a:solidFill>
                <a:latin typeface="Prachason Neue Expanded Bold"/>
                <a:ea typeface="Prachason Neue Expanded Bold"/>
                <a:cs typeface="Prachason Neue Expanded Bold"/>
                <a:sym typeface="Prachason Neue Expanded Bold"/>
              </a:rPr>
              <a:t>CORE PLOT TYPES IN SEABORN</a:t>
            </a:r>
          </a:p>
          <a:p>
            <a:pPr algn="ctr">
              <a:lnSpc>
                <a:spcPts val="84"/>
              </a:lnSpc>
            </a:pPr>
            <a:endParaRPr lang="en-US" sz="7199" b="1" u="sng">
              <a:solidFill>
                <a:srgbClr val="FFFFFF"/>
              </a:solidFill>
              <a:latin typeface="Prachason Neue Expanded Bold"/>
              <a:ea typeface="Prachason Neue Expanded Bold"/>
              <a:cs typeface="Prachason Neue Expanded Bold"/>
              <a:sym typeface="Prachason Neue Expanded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859408" y="5716271"/>
            <a:ext cx="3906408" cy="37411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Visualise the distribution of datasets using histplot(), kdeplot(), and distplot() for understanding data spread and patterns.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-206630" y="5010246"/>
            <a:ext cx="6225766" cy="9136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10"/>
              </a:lnSpc>
            </a:pPr>
            <a:r>
              <a:rPr lang="en-US" sz="250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Distribution Plots</a:t>
            </a:r>
          </a:p>
          <a:p>
            <a:pPr algn="ctr">
              <a:lnSpc>
                <a:spcPts val="3919"/>
              </a:lnSpc>
            </a:pPr>
            <a:endParaRPr lang="en-US" sz="2507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5127080" y="5992091"/>
            <a:ext cx="3719127" cy="327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Explore relationships between variables with scatterplot(), lineplot(), and the relplot() function. flexible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4425199" y="5010246"/>
            <a:ext cx="5122889" cy="5221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2807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Relational Plots</a:t>
            </a:r>
          </a:p>
          <a:p>
            <a:pPr algn="ctr">
              <a:lnSpc>
                <a:spcPts val="105"/>
              </a:lnSpc>
            </a:pPr>
            <a:endParaRPr lang="en-US" sz="2807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9144000" y="4966522"/>
            <a:ext cx="3719127" cy="101237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89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Categorical Plots</a:t>
            </a:r>
          </a:p>
          <a:p>
            <a:pPr algn="ctr">
              <a:lnSpc>
                <a:spcPts val="4050"/>
              </a:lnSpc>
            </a:pPr>
            <a:endParaRPr lang="en-US" sz="289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0" name="TextBox 10"/>
          <p:cNvSpPr txBox="1"/>
          <p:nvPr/>
        </p:nvSpPr>
        <p:spPr>
          <a:xfrm>
            <a:off x="9302911" y="5876290"/>
            <a:ext cx="3719127" cy="327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Compare categories using boxplot(), violinplot(), barplot(), and swarmplot() for statistical comparisons.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13721158" y="5716271"/>
            <a:ext cx="3719127" cy="32709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0"/>
              </a:lnSpc>
            </a:pPr>
            <a:r>
              <a:rPr lang="en-US" sz="2692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Display matrix data with heatmap() and clustermap() to reveal correlations and hierarchical patterns in your data.</a:t>
            </a:r>
          </a:p>
          <a:p>
            <a:pPr algn="ctr">
              <a:lnSpc>
                <a:spcPts val="3770"/>
              </a:lnSpc>
            </a:pPr>
            <a:endParaRPr lang="en-US" sz="2692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3293937" y="4947105"/>
            <a:ext cx="3719127" cy="9768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050"/>
              </a:lnSpc>
            </a:pPr>
            <a:r>
              <a:rPr lang="en-US" sz="2892" b="1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Matrix Plots</a:t>
            </a:r>
          </a:p>
          <a:p>
            <a:pPr algn="ctr">
              <a:lnSpc>
                <a:spcPts val="3770"/>
              </a:lnSpc>
            </a:pPr>
            <a:endParaRPr lang="en-US" sz="2892" b="1">
              <a:solidFill>
                <a:srgbClr val="FFFFFF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prestige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340326" y="1654804"/>
            <a:ext cx="7470490" cy="7603496"/>
          </a:xfrm>
          <a:custGeom>
            <a:avLst/>
            <a:gdLst/>
            <a:ahLst/>
            <a:cxnLst/>
            <a:rect l="l" t="t" r="r" b="b"/>
            <a:pathLst>
              <a:path w="7470490" h="7603496">
                <a:moveTo>
                  <a:pt x="0" y="0"/>
                </a:moveTo>
                <a:lnTo>
                  <a:pt x="7470490" y="0"/>
                </a:lnTo>
                <a:lnTo>
                  <a:pt x="7470490" y="7603496"/>
                </a:lnTo>
                <a:lnTo>
                  <a:pt x="0" y="76034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9231025" y="1825404"/>
            <a:ext cx="7409905" cy="11562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92"/>
              </a:lnSpc>
            </a:pPr>
            <a:r>
              <a:rPr lang="en-US" sz="2851" u="sng" dirty="0">
                <a:solidFill>
                  <a:srgbClr val="FFFFFF"/>
                </a:solidFill>
                <a:latin typeface="Prachason Neue Expanded"/>
                <a:ea typeface="Prachason Neue Expanded"/>
                <a:cs typeface="Prachason Neue Expanded"/>
                <a:sym typeface="Prachason Neue Expanded"/>
              </a:rPr>
              <a:t>Quick Insights with Minimal Code</a:t>
            </a:r>
          </a:p>
          <a:p>
            <a:pPr algn="ctr">
              <a:lnSpc>
                <a:spcPts val="3992"/>
              </a:lnSpc>
            </a:pPr>
            <a:endParaRPr lang="en-US" sz="2851" u="sng" dirty="0">
              <a:solidFill>
                <a:srgbClr val="FFFFFF"/>
              </a:solidFill>
              <a:latin typeface="Prachason Neue Expanded"/>
              <a:ea typeface="Prachason Neue Expanded"/>
              <a:cs typeface="Prachason Neue Expanded"/>
              <a:sym typeface="Prachason Neue Expande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9144000" y="3129329"/>
            <a:ext cx="8545351" cy="15443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979" lvl="1" indent="-237490" algn="l">
              <a:lnSpc>
                <a:spcPts val="3079"/>
              </a:lnSpc>
              <a:buFont typeface="Arial"/>
              <a:buChar char="•"/>
            </a:pPr>
            <a:r>
              <a: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The Tips dataset demonstrates Seaborn's power. A single </a:t>
            </a:r>
            <a:r>
              <a:rPr lang="en-US" sz="2199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relplot</a:t>
            </a:r>
            <a:r>
              <a:rPr lang="en-US" sz="2199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() call can show the relationship between total bill and tip amount, whilst encoding additional dimensions:</a:t>
            </a:r>
          </a:p>
          <a:p>
            <a:pPr algn="l">
              <a:lnSpc>
                <a:spcPts val="3079"/>
              </a:lnSpc>
            </a:pPr>
            <a:endParaRPr lang="en-US" sz="2199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9261505" y="4838700"/>
            <a:ext cx="8545351" cy="2199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42842" lvl="1" indent="-271421" algn="l">
              <a:lnSpc>
                <a:spcPts val="3520"/>
              </a:lnSpc>
              <a:buFont typeface="Arial"/>
              <a:buChar char="•"/>
            </a:pP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Hue differentiates smoker vs non-smoker</a:t>
            </a:r>
          </a:p>
          <a:p>
            <a:pPr algn="l">
              <a:lnSpc>
                <a:spcPts val="3520"/>
              </a:lnSpc>
            </a:pPr>
            <a:endParaRPr lang="en-US" sz="2514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542842" lvl="1" indent="-271421" algn="l">
              <a:lnSpc>
                <a:spcPts val="3520"/>
              </a:lnSpc>
              <a:buFont typeface="Arial"/>
              <a:buChar char="•"/>
            </a:pP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n-US" sz="251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Style</a:t>
            </a: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varies marker shapes by category</a:t>
            </a:r>
          </a:p>
          <a:p>
            <a:pPr marL="542842" lvl="1" indent="-271421" algn="l">
              <a:lnSpc>
                <a:spcPts val="3520"/>
              </a:lnSpc>
              <a:buFont typeface="Arial"/>
              <a:buChar char="•"/>
            </a:pPr>
            <a:r>
              <a:rPr lang="en-US" sz="2514" b="1" dirty="0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Size</a:t>
            </a:r>
            <a:r>
              <a:rPr lang="en-US" sz="2514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represents party size</a:t>
            </a:r>
          </a:p>
          <a:p>
            <a:pPr algn="l">
              <a:lnSpc>
                <a:spcPts val="3520"/>
              </a:lnSpc>
            </a:pPr>
            <a:endParaRPr lang="en-US" sz="2514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503334" y="543836"/>
            <a:ext cx="12876883" cy="9017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99"/>
              </a:lnSpc>
            </a:pPr>
            <a:r>
              <a:rPr lang="en-US" sz="2499" b="1" i="1" u="sng" spc="579">
                <a:solidFill>
                  <a:srgbClr val="FFFFFF"/>
                </a:solidFill>
                <a:latin typeface="Montserrat Bold Italics"/>
                <a:ea typeface="Montserrat Bold Italics"/>
                <a:cs typeface="Montserrat Bold Italics"/>
                <a:sym typeface="Montserrat Bold Italics"/>
              </a:rPr>
              <a:t>EXAMPLE: VISUALISING TIPS DATASET WITH RELPLOT()</a:t>
            </a:r>
          </a:p>
          <a:p>
            <a:pPr algn="l">
              <a:lnSpc>
                <a:spcPts val="3699"/>
              </a:lnSpc>
            </a:pPr>
            <a:endParaRPr lang="en-US" sz="2499" b="1" i="1" u="sng" spc="579">
              <a:solidFill>
                <a:srgbClr val="FFFFFF"/>
              </a:solidFill>
              <a:latin typeface="Montserrat Bold Italics"/>
              <a:ea typeface="Montserrat Bold Italics"/>
              <a:cs typeface="Montserrat Bold Italics"/>
              <a:sym typeface="Montserrat Bold Italics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8780363" y="7277100"/>
            <a:ext cx="9507637" cy="151745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238"/>
              </a:lnSpc>
            </a:pPr>
            <a:r>
              <a:rPr lang="en-US" sz="23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    </a:t>
            </a:r>
            <a:r>
              <a:rPr lang="en-US" sz="231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sns.relplot</a:t>
            </a:r>
            <a:r>
              <a:rPr lang="en-US" sz="23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(data=tips, x="</a:t>
            </a:r>
            <a:r>
              <a:rPr lang="en-US" sz="2313" dirty="0" err="1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total_bill</a:t>
            </a:r>
            <a:r>
              <a:rPr lang="en-US" sz="2313" dirty="0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",           y="tip", hue="smoker" ,                                  size="size",         style="time")</a:t>
            </a:r>
          </a:p>
          <a:p>
            <a:pPr algn="l">
              <a:lnSpc>
                <a:spcPts val="5871"/>
              </a:lnSpc>
            </a:pPr>
            <a:endParaRPr lang="en-US" sz="2313" dirty="0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2000">
        <p15:prstTrans prst="fallOver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3"/>
          <p:cNvSpPr txBox="1"/>
          <p:nvPr/>
        </p:nvSpPr>
        <p:spPr>
          <a:xfrm>
            <a:off x="10134600" y="5143500"/>
            <a:ext cx="9661482" cy="14736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5712"/>
              </a:lnSpc>
            </a:pPr>
            <a:r>
              <a:rPr lang="en-US" sz="5054" b="1" i="1" u="sng" dirty="0">
                <a:solidFill>
                  <a:srgbClr val="FFFFFF"/>
                </a:solidFill>
                <a:latin typeface="Prachason Neue Expanded Bold Italics"/>
                <a:ea typeface="Prachason Neue Expanded Bold Italics"/>
                <a:cs typeface="Prachason Neue Expanded Bold Italics"/>
                <a:sym typeface="Prachason Neue Expanded Bold Italics"/>
              </a:rPr>
              <a:t> THANK YOU </a:t>
            </a:r>
          </a:p>
          <a:p>
            <a:pPr algn="just">
              <a:lnSpc>
                <a:spcPts val="5712"/>
              </a:lnSpc>
            </a:pPr>
            <a:endParaRPr lang="en-US" sz="5054" b="1" i="1" u="sng" dirty="0">
              <a:solidFill>
                <a:srgbClr val="FFFFFF"/>
              </a:solidFill>
              <a:latin typeface="Prachason Neue Expanded Bold Italics"/>
              <a:ea typeface="Prachason Neue Expanded Bold Italics"/>
              <a:cs typeface="Prachason Neue Expanded Bold Italics"/>
              <a:sym typeface="Prachason Neue Expanded Bold Italics"/>
            </a:endParaRPr>
          </a:p>
        </p:txBody>
      </p:sp>
      <p:sp>
        <p:nvSpPr>
          <p:cNvPr id="5" name="Freeform 5"/>
          <p:cNvSpPr/>
          <p:nvPr/>
        </p:nvSpPr>
        <p:spPr>
          <a:xfrm>
            <a:off x="0" y="0"/>
            <a:ext cx="8839200" cy="10287000"/>
          </a:xfrm>
          <a:custGeom>
            <a:avLst/>
            <a:gdLst/>
            <a:ahLst/>
            <a:cxnLst/>
            <a:rect l="l" t="t" r="r" b="b"/>
            <a:pathLst>
              <a:path w="7121102" h="10287000">
                <a:moveTo>
                  <a:pt x="0" y="0"/>
                </a:moveTo>
                <a:lnTo>
                  <a:pt x="7121102" y="0"/>
                </a:lnTo>
                <a:lnTo>
                  <a:pt x="71211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5" t="-3658" b="-3658"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14:window dir="ver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320</Words>
  <Application>Microsoft Office PowerPoint</Application>
  <PresentationFormat>Custom</PresentationFormat>
  <Paragraphs>35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20" baseType="lpstr">
      <vt:lpstr>Montserrat</vt:lpstr>
      <vt:lpstr>Prachason Neue Expanded Bold Italics</vt:lpstr>
      <vt:lpstr>Alice</vt:lpstr>
      <vt:lpstr>Calibri</vt:lpstr>
      <vt:lpstr>Prachason Neue Expanded Bold</vt:lpstr>
      <vt:lpstr>Montserrat Bold</vt:lpstr>
      <vt:lpstr>Arial</vt:lpstr>
      <vt:lpstr>League Spartan</vt:lpstr>
      <vt:lpstr>Montserrat Bold Italics</vt:lpstr>
      <vt:lpstr>Prachason Neue Expanded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Seaborn: Python's Statistical Data Visualisation Library</dc:title>
  <cp:lastModifiedBy>Shivesh Tripathi</cp:lastModifiedBy>
  <cp:revision>4</cp:revision>
  <dcterms:created xsi:type="dcterms:W3CDTF">2006-08-16T00:00:00Z</dcterms:created>
  <dcterms:modified xsi:type="dcterms:W3CDTF">2025-12-04T14:11:41Z</dcterms:modified>
  <dc:identifier>DAG6jOf4YDw</dc:identifier>
</cp:coreProperties>
</file>